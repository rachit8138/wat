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BD76AE7-3994-0344-9BA3-88EB1A37724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94658"/>
  </p:normalViewPr>
  <p:slideViewPr>
    <p:cSldViewPr snapToGrid="0">
      <p:cViewPr varScale="1">
        <p:scale>
          <a:sx n="115" d="100"/>
          <a:sy n="115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932D-F18B-E8CB-E502-33FB886CE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3D51C-F702-26B7-601E-F14E476BA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9469E-AE34-48D0-6FDF-DB243E27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85704-6D24-709F-FD69-49B3470A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71618-8DF4-7777-6667-E3FF51D0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0730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7F06-5DE2-FED5-E4F1-4293A334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6BD7-5349-BC57-144E-B78CF9B1A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2FD8B-F41C-331C-F673-E61A5752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FD5D4-96AD-BEFF-307C-5C8A14F2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2C49-3734-F0B1-28AE-892B34C4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6591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3DDB-4238-9943-C997-C370E9D8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E733C-AD82-9A25-D0ED-F522FB10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3BD10-4CA7-5570-1A6E-ED634511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5ACDA-1A3E-70C4-0F44-BAA49E96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DF650-4CD8-E3E0-BA40-66E39E70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4877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298D-1E58-2CF5-C06B-F3306207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D7C66-985D-546D-B587-7A1BF8881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9E3D9-29F0-CA29-4FD6-47F338CBA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1F81F-79E4-4F87-1665-DABE5E4E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D975C-AE17-810A-4B2F-8D5EEEDD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0CD98-940C-F4B9-5867-341A84A3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04838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E32F-971A-0132-3F1B-6B446D9CC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5EB3B-5A2E-D01C-8B3D-42629C948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2FF95-D4F3-FEC0-4CE7-077F1EEA8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B5B6B-13E2-63EC-9387-1639AD307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F8BA8-3AC1-47CA-0970-3567D6447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98AD5-E136-CE62-FD78-9A59A7E3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F90A8-A8B0-2E6A-58B1-F14E470F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BF3FF-EE35-A452-5BBD-87E9B8A9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1760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AE63-8603-8B1D-1164-1F77210C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612FD-AEB8-C4B9-5FE8-7AA4FC021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4B790-D6CF-3276-5B1E-6FD5D04E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FF85A-8F93-1E6C-2FC3-DE25309F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9165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58A75-E7BA-3C23-ADA1-50F385A9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32355-5B6C-6ACD-DAAF-CE7C708F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1E3E6-5F8F-AF26-346A-5A3661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03443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DDF3-C70A-25EA-18CE-7A4C720F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9787-9AC7-3C79-9C60-A7EEE1FCC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EB6E1-9DDD-D36B-25EA-09DF486EA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771F1-051D-77B9-70E0-69BC2B05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1F459-D049-1088-C4C2-D49AF7D3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EC144-925D-4A07-304A-702A66A1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9364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EEAB-8008-7E39-A92A-D96E0872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EADD0-4733-84CA-F383-0AAE2BE19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F55FE-B312-FE5C-0C07-65CB50661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67FB1-5957-2DC1-A9E1-19834E74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69EB7-7087-736A-9FE3-6C1EA125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2B3D3-CDA3-C972-B69A-801615B2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224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7897-0141-671E-1B36-326DDA3C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A60B5-BAF9-3DD8-188B-F711783C8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925EC-3D3D-6FD8-F01E-B83713D8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9DF06-3A60-2CFA-3269-1CE69ECC0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F58BC-5B86-730F-95A8-E6A2F54E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8266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60BEF-A851-5283-124A-E4BD0C14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B1DDB-B788-0D06-809A-ED23DF819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A1572-F399-0C82-861B-8BD14423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BD74F-D14E-B209-EB0A-C61EDF42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0084-81BF-8E75-AB4A-39235088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1884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B6E10-99F1-A67F-1A86-FC9A2849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AD968-C240-DC65-22C2-04D2249DD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7B999-5042-30B7-349A-7BCC2E4AC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05450-888F-CE4B-A7E8-504D36E664DA}" type="datetimeFigureOut">
              <a:rPr lang="en-NP" smtClean="0"/>
              <a:t>02/11/2025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003A9-4126-6410-170A-0190FD567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BD3B5-0D89-A2EC-96DE-22CD73E40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CCDEF-CB06-1A45-B31A-1E01B9D3E795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70768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2306-4CC6-AB74-206D-CE1E6A056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Web Documents </a:t>
            </a:r>
            <a:r>
              <a:rPr lang="en-US" b="1"/>
              <a:t>and HTML</a:t>
            </a:r>
            <a:br>
              <a:rPr lang="en-US" b="1" dirty="0"/>
            </a:br>
            <a:endParaRPr lang="en-N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03215-58ED-9D4A-91B4-537B25F1E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Structured Overview of HTML Evolution, Terminology, and Practice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501855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7FAB-C846-EF51-2F2F-EDEDD01C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4B90-EE5A-D2B5-7518-FA6681C3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has evolved significantly since the 1990s.</a:t>
            </a:r>
          </a:p>
          <a:p>
            <a:r>
              <a:rPr lang="en-US" dirty="0"/>
              <a:t>This section explores the development of HTML versions and key concepts.</a:t>
            </a:r>
          </a:p>
          <a:p>
            <a:r>
              <a:rPr lang="en-US" dirty="0"/>
              <a:t>Focus: Matching specification updates to user expectations and technology changes.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86182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1A54-B893-A4B3-4673-9BB8C202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Specification Timeline</a:t>
            </a:r>
            <a:endParaRPr lang="en-NP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1E8531-6F7D-417E-2DDA-E6B36D5A0F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43898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05498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2188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HTML Version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Year (Approx.)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Notes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96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1.x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1992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Early text-based browsing (e.g., Lynx)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60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2.x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1994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 for graphical browsers like Netscape, 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722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3.x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1997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Short-lived, browser wars 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255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4.x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1997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Introduced strict, transitional, frameset versions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033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XHTML 1.x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XML-based, no longer evolving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079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5.x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2011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Pragmatic, feature-rich and standardized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788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67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0F7F-3968-0DC4-CB42-D4064D12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by User Requirement</a:t>
            </a:r>
            <a:endParaRPr lang="en-NP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3F21EA-46B2-E992-9880-450DB15033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31297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07727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HTML Version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User Requirement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83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1.x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Text-only browsing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929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2.x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Graphical browsing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926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3.x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Browser wars, custom tags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751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4.x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browsing, 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26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XHTML 1.x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Strict semantic correctness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626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5.x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Practical and modernized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51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64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F505-F3CE-DC99-7BE4-77F04701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Internet Usage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4322-18EF-C862-164E-D978EBA84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usage: Static information retrieval.</a:t>
            </a:r>
          </a:p>
          <a:p>
            <a:r>
              <a:rPr lang="en-US" dirty="0"/>
              <a:t>An increase in bandwidth shifted expectations.</a:t>
            </a:r>
          </a:p>
          <a:p>
            <a:r>
              <a:rPr lang="en-US" dirty="0"/>
              <a:t>HTML expanded to support:</a:t>
            </a:r>
          </a:p>
          <a:p>
            <a:pPr lvl="1"/>
            <a:r>
              <a:rPr lang="en-US" dirty="0"/>
              <a:t>Dynamic content</a:t>
            </a:r>
          </a:p>
          <a:p>
            <a:pPr lvl="1"/>
            <a:r>
              <a:rPr lang="en-US" dirty="0"/>
              <a:t>Multimedia</a:t>
            </a:r>
            <a:endParaRPr lang="en-NP" dirty="0"/>
          </a:p>
          <a:p>
            <a:pPr lvl="1"/>
            <a:r>
              <a:rPr lang="en-NP" dirty="0"/>
              <a:t>Interactivity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05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D682-86FC-DBC2-ABEF-D2A5450E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HTML: Terminology Overview</a:t>
            </a:r>
            <a:endParaRPr lang="en-NP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A07E10-5EE5-5AB7-966C-64DDBAC66D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192382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3255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Term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Definition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687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Element/Tag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Markup defining content (e.g., &lt;h1&gt;)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16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In-memory document hierarchy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82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Application rendering web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60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Stylesheet language for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568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Client-side scripting for interactivity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Reusable style hook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386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element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27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Occupies full width (&lt;p&gt;, &lt;div&gt;)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619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Inline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Flows within text (&lt;span&gt;, &lt;a&gt;)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56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37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2887-173C-A1A3-516B-8E7B444A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Markup?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5135-DD1F-F47C-67BD-E06911E1E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Markup assigns semantics to content.</a:t>
            </a:r>
          </a:p>
          <a:p>
            <a:r>
              <a:rPr lang="en-US" dirty="0"/>
              <a:t>Example text includes:</a:t>
            </a:r>
          </a:p>
          <a:p>
            <a:pPr lvl="1"/>
            <a:r>
              <a:rPr lang="en-US" dirty="0"/>
              <a:t>Headings, lists, subscripts, superscripts, abbreviations.</a:t>
            </a:r>
          </a:p>
          <a:p>
            <a:r>
              <a:rPr lang="en-US" dirty="0"/>
              <a:t>Translated to HTML using semantic tags like &lt;h2&gt;, &lt;</a:t>
            </a:r>
            <a:r>
              <a:rPr lang="en-US" dirty="0" err="1"/>
              <a:t>ol</a:t>
            </a:r>
            <a:r>
              <a:rPr lang="en-US" dirty="0"/>
              <a:t>&gt;, &lt;li&gt;, &lt;sub&gt;.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7036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1EDD-C783-2C47-7AAA-1DE99B4A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Marked-up HTML Example</a:t>
            </a:r>
            <a:br>
              <a:rPr lang="en-US" b="1" dirty="0"/>
            </a:br>
            <a:endParaRPr lang="en-NP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881A7-B9ED-F77A-1DF2-8BF5730AB5F4}"/>
              </a:ext>
            </a:extLst>
          </p:cNvPr>
          <p:cNvSpPr txBox="1"/>
          <p:nvPr/>
        </p:nvSpPr>
        <p:spPr>
          <a:xfrm>
            <a:off x="838200" y="1485900"/>
            <a:ext cx="103795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&lt;h2&gt;Subjects of study&lt;/h2&gt;</a:t>
            </a:r>
          </a:p>
          <a:p>
            <a:r>
              <a:rPr lang="en-US" dirty="0"/>
              <a:t>&lt;p&gt;At the Awesome Science Faculty...&lt;/p&gt;</a:t>
            </a:r>
          </a:p>
          <a:p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r>
              <a:rPr lang="en-US" dirty="0"/>
              <a:t>&lt;li&gt;Turning H&lt;sub&gt;2&lt;/sub&gt;O into wine...&lt;/li&gt;</a:t>
            </a:r>
          </a:p>
          <a:p>
            <a:r>
              <a:rPr lang="en-US" dirty="0"/>
              <a:t>&lt;li&gt;Measuring the effect of...&lt;/li&gt;</a:t>
            </a:r>
          </a:p>
          <a:p>
            <a:r>
              <a:rPr lang="en-US" dirty="0"/>
              <a:t>&lt;li&gt;&lt;</a:t>
            </a:r>
            <a:r>
              <a:rPr lang="en-US" dirty="0" err="1"/>
              <a:t>abbr</a:t>
            </a:r>
            <a:r>
              <a:rPr lang="en-US" dirty="0"/>
              <a:t>&gt;HTML&lt;/</a:t>
            </a:r>
            <a:r>
              <a:rPr lang="en-US" dirty="0" err="1"/>
              <a:t>abbr</a:t>
            </a:r>
            <a:r>
              <a:rPr lang="en-US" dirty="0"/>
              <a:t>&gt;, Hypertext Markup Language...&lt;/li&gt;</a:t>
            </a:r>
          </a:p>
          <a:p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br>
              <a:rPr lang="en-US" dirty="0"/>
            </a:b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215368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944DD-B907-0739-5D5D-B30B4C615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Web Development Stack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3C7A-5E36-299E-6FC3-8E47B4EDE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Elements → Semantic structure</a:t>
            </a:r>
          </a:p>
          <a:p>
            <a:r>
              <a:rPr lang="en-US" dirty="0"/>
              <a:t>CSS → Presentation</a:t>
            </a:r>
          </a:p>
          <a:p>
            <a:r>
              <a:rPr lang="en-US" dirty="0"/>
              <a:t>JavaScript → Interactivity and dynamic updates</a:t>
            </a:r>
          </a:p>
          <a:p>
            <a:r>
              <a:rPr lang="en-US" dirty="0"/>
              <a:t>DOM enables live manipulation of HTML structure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82554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6FD0-6680-0834-6C59-AFBB9661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Basic HTML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FF751-78BF-E4B5-6B1F-1A4ECF1EA646}"/>
              </a:ext>
            </a:extLst>
          </p:cNvPr>
          <p:cNvSpPr txBox="1"/>
          <p:nvPr/>
        </p:nvSpPr>
        <p:spPr>
          <a:xfrm>
            <a:off x="838200" y="1690688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&lt;title&gt;Sample page&lt;/title&gt;</a:t>
            </a:r>
          </a:p>
          <a:p>
            <a:r>
              <a:rPr lang="en-US" dirty="0"/>
              <a:t>  &lt;/head&gt;</a:t>
            </a:r>
          </a:p>
          <a:p>
            <a:r>
              <a:rPr lang="en-US" dirty="0"/>
              <a:t>  &lt;body&gt;</a:t>
            </a:r>
          </a:p>
          <a:p>
            <a:r>
              <a:rPr lang="en-US" dirty="0"/>
              <a:t>    &lt;h1&gt;Sample page&lt;/h1&gt;</a:t>
            </a:r>
          </a:p>
          <a:p>
            <a:r>
              <a:rPr lang="en-US" dirty="0"/>
              <a:t>    &lt;p&gt;This is a &lt;a </a:t>
            </a:r>
            <a:r>
              <a:rPr lang="en-US" dirty="0" err="1"/>
              <a:t>href</a:t>
            </a:r>
            <a:r>
              <a:rPr lang="en-US" dirty="0"/>
              <a:t>="</a:t>
            </a:r>
            <a:r>
              <a:rPr lang="en-US" dirty="0" err="1"/>
              <a:t>demo.html</a:t>
            </a:r>
            <a:r>
              <a:rPr lang="en-US" dirty="0"/>
              <a:t>"&gt;simple&lt;/a&gt; sample.&lt;/p&gt;</a:t>
            </a:r>
          </a:p>
          <a:p>
            <a:r>
              <a:rPr lang="en-US" dirty="0"/>
              <a:t>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7FE33-7CFB-F55A-3C4B-963A3BB1E046}"/>
              </a:ext>
            </a:extLst>
          </p:cNvPr>
          <p:cNvSpPr txBox="1"/>
          <p:nvPr/>
        </p:nvSpPr>
        <p:spPr>
          <a:xfrm>
            <a:off x="838200" y="5167312"/>
            <a:ext cx="540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&lt;!DOCTYPE&gt; declares document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&lt;html&gt;, &lt;head&gt;, &lt;body&gt;—required root structure.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67801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8EFE-FCD2-E087-71FC-5F05B624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HTML Example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910D-1A7E-C51A-CA45-3E0B950AB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Includes:</a:t>
            </a:r>
          </a:p>
          <a:p>
            <a:r>
              <a:rPr lang="en-US" dirty="0"/>
              <a:t>&lt;header&gt;</a:t>
            </a:r>
          </a:p>
          <a:p>
            <a:r>
              <a:rPr lang="en-US" dirty="0"/>
              <a:t>&lt;nav&gt;</a:t>
            </a:r>
          </a:p>
          <a:p>
            <a:r>
              <a:rPr lang="en-US" dirty="0"/>
              <a:t>&lt;section&gt;</a:t>
            </a:r>
          </a:p>
          <a:p>
            <a:r>
              <a:rPr lang="en-US" dirty="0"/>
              <a:t>&lt;footer&gt;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Highlights how semantic elements give meaningful structure.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63958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9B29-78E0-5E72-D2D2-D5537943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Compatibility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1C8A4-680D-DE63-89C2-3089FF79D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elements vary in support across browsers.</a:t>
            </a:r>
          </a:p>
          <a:p>
            <a:r>
              <a:rPr lang="en-US" dirty="0"/>
              <a:t>Example: &lt;a&gt; tag is well supported since HTML 1.0.</a:t>
            </a:r>
          </a:p>
          <a:p>
            <a:r>
              <a:rPr lang="en-US" dirty="0"/>
              <a:t>Newer elements (audio, video, canvas) may have compatibility issues.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41283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0384-F192-E5E5-95F3-D5F6B883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210E4-7331-9017-09FC-2857BB6DE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 HTML ensures:</a:t>
            </a:r>
          </a:p>
          <a:p>
            <a:pPr lvl="1"/>
            <a:r>
              <a:rPr lang="en-US" dirty="0"/>
              <a:t>Correct rendering</a:t>
            </a:r>
          </a:p>
          <a:p>
            <a:pPr lvl="1"/>
            <a:r>
              <a:rPr lang="en-US" dirty="0"/>
              <a:t>Fewer bugs</a:t>
            </a:r>
          </a:p>
          <a:p>
            <a:pPr lvl="1"/>
            <a:r>
              <a:rPr lang="en-US" dirty="0"/>
              <a:t>Better interactivity</a:t>
            </a:r>
          </a:p>
          <a:p>
            <a:r>
              <a:rPr lang="en-US" dirty="0"/>
              <a:t>Tools:</a:t>
            </a:r>
          </a:p>
          <a:p>
            <a:pPr lvl="1"/>
            <a:r>
              <a:rPr lang="en-US" dirty="0"/>
              <a:t>Browser Developer Tools</a:t>
            </a:r>
          </a:p>
          <a:p>
            <a:pPr lvl="1"/>
            <a:r>
              <a:rPr lang="en-US" dirty="0"/>
              <a:t>W3C Markup Validation Service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544731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1F01-4AD5-4A51-8AA4-36D9E89F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Developer Tools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FBC20-36BB-BECC-73AE-BCAC58819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 DOM structure</a:t>
            </a:r>
          </a:p>
          <a:p>
            <a:r>
              <a:rPr lang="en-US" dirty="0"/>
              <a:t>Edit live CSS</a:t>
            </a:r>
          </a:p>
          <a:p>
            <a:r>
              <a:rPr lang="en-US" dirty="0"/>
              <a:t>Debug JavaScript</a:t>
            </a:r>
          </a:p>
          <a:p>
            <a:r>
              <a:rPr lang="en-US" dirty="0"/>
              <a:t>Monitor network requests</a:t>
            </a:r>
          </a:p>
          <a:p>
            <a:r>
              <a:rPr lang="en-US" dirty="0"/>
              <a:t>Helps ensure robust, valid code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05516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8CF7-8029-B613-F7C2-71E34F45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C258-082E-A072-33B2-115BBA04C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Responsive design for varied devices</a:t>
            </a:r>
          </a:p>
          <a:p>
            <a:r>
              <a:rPr lang="en-US" dirty="0"/>
              <a:t>API-driven web apps</a:t>
            </a:r>
          </a:p>
          <a:p>
            <a:r>
              <a:rPr lang="en-US" dirty="0"/>
              <a:t>Increased focus on:</a:t>
            </a:r>
          </a:p>
          <a:p>
            <a:pPr lvl="1"/>
            <a:r>
              <a:rPr lang="en-US" dirty="0"/>
              <a:t>Data privacy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Decentralized technologies (e.g., Web 3.0)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904950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BC5F-0B90-0B4D-5B8F-51614D9F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Todo!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DAA11-FD7B-3071-AD4A-00C5FC2CC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did HTML tags become lowercase and why?</a:t>
            </a:r>
          </a:p>
          <a:p>
            <a:r>
              <a:rPr lang="en-US" dirty="0"/>
              <a:t>Find 2 elements in HTML2 not present in HTML5—why removed?</a:t>
            </a:r>
          </a:p>
          <a:p>
            <a:r>
              <a:rPr lang="en-US" dirty="0"/>
              <a:t>How were audio and video handled before HTML5 elements existed?</a:t>
            </a:r>
          </a:p>
          <a:p>
            <a:r>
              <a:rPr lang="en-US" dirty="0"/>
              <a:t>What do &lt;b&gt;, &lt;</a:t>
            </a:r>
            <a:r>
              <a:rPr lang="en-US" dirty="0" err="1"/>
              <a:t>hr</a:t>
            </a:r>
            <a:r>
              <a:rPr lang="en-US" dirty="0"/>
              <a:t>&gt;, &lt;meter&gt;, &lt;q&gt;, &lt;time&gt; represent in HTML5?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609178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695</Words>
  <Application>Microsoft Macintosh PowerPoint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Web Documents and HTML </vt:lpstr>
      <vt:lpstr>Introduction</vt:lpstr>
      <vt:lpstr>HTML Specification Timeline</vt:lpstr>
      <vt:lpstr>HTML by User Requirement</vt:lpstr>
      <vt:lpstr>Changing Internet Usage</vt:lpstr>
      <vt:lpstr>HTML: Terminology Overview</vt:lpstr>
      <vt:lpstr>What is Markup?</vt:lpstr>
      <vt:lpstr>Marked-up HTML Example </vt:lpstr>
      <vt:lpstr>Modern Web Development Stack</vt:lpstr>
      <vt:lpstr>Basic HTML structure</vt:lpstr>
      <vt:lpstr>Extended HTML Example</vt:lpstr>
      <vt:lpstr>Browser Compatibility</vt:lpstr>
      <vt:lpstr>Validation</vt:lpstr>
      <vt:lpstr>Web Developer Tools</vt:lpstr>
      <vt:lpstr>Future Directions</vt:lpstr>
      <vt:lpstr>Todo!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Basnet</dc:creator>
  <cp:lastModifiedBy>Prashant Basnet</cp:lastModifiedBy>
  <cp:revision>2</cp:revision>
  <dcterms:created xsi:type="dcterms:W3CDTF">2025-11-02T13:19:07Z</dcterms:created>
  <dcterms:modified xsi:type="dcterms:W3CDTF">2025-11-02T13:32:06Z</dcterms:modified>
</cp:coreProperties>
</file>