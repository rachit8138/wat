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728"/>
    <p:restoredTop sz="94672"/>
  </p:normalViewPr>
  <p:slideViewPr>
    <p:cSldViewPr snapToGrid="0">
      <p:cViewPr varScale="1">
        <p:scale>
          <a:sx n="44" d="100"/>
          <a:sy n="44" d="100"/>
        </p:scale>
        <p:origin x="216" y="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C3D0C-FE8C-C4CC-3BE9-07D92862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2FEFF-2ACE-1D1C-CFE3-22A090D68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950CA-FF9D-9BBA-547E-6CE34C4C4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18FB8-852C-E3B4-1CDB-D8FCC124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5D4DA-CCAF-3562-738F-8F301A371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93021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E78D-5341-CEC5-CE16-3B833FEB6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3407-0015-B6F5-C534-96B6C6B0E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978CB-918B-18E0-5C20-055313E6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FDC58-6DAA-8E86-ACA1-F7ED3639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91677-B999-8E54-B634-E8327267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5941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1F4F8-D2EE-0861-BCDE-8856CA33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4BB6F-35D3-0B6F-E0EE-5E4021345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9690-AAEF-4E7E-44DA-4D5C23D8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46334-17E3-0DC4-61A0-106A0B1D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E6733-2776-C872-F5C0-74A90006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69005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883C-18B4-406D-07BB-BC9843720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6F463-6E2F-9321-38C6-F408403D4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E9574-90B9-0B92-BC4E-C99AF6875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D99AF-5C9F-22C0-60B8-8DD1C8055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2C97E-431B-2B33-E349-90736313C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69DC1-1047-9B9D-241F-13DF51B2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609860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2EF4-617C-00E3-8020-B7A76FF01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3FEFB-6660-47B1-3B14-75C844E7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C81DF-EA7C-2E85-F484-3663EA1F8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EDD81-010B-E9B2-9EE3-51AF88483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80315-5CCB-185E-2D05-976D33D5F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9287E1-E5DC-FB9B-2D41-7C66EC57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3AA9E-89B7-86A2-E19F-EB910D55E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76118C-081C-F428-A07A-ADDA5D7E7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208879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1666-4E50-55DA-E884-3FBADD89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22331-F915-259A-F49F-B6553689B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C8238-FCBF-47B4-532C-31CA25DF6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CDFD4-3D0F-B486-98B6-6CF3BD89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37255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C0CA7-3776-40ED-2BF0-C3A1A4F0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CE9BC-29F1-A50E-0B49-1F2033B5E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1913B-DF0E-763E-746C-A642FC10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187214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E300-4FC3-59A9-A7AF-19C72BE09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4C53-4259-7971-4046-6223C5E21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FB892-0FC0-98CE-4417-D4C0966E3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02AF7-4406-48D0-8E50-DE88F976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0A10C-0015-FAEB-EDFD-A1279276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6471D-5FC8-DE96-CF27-87369F13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30023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0C73-C4AA-90A5-90FE-D666D4CC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C73D0-1E6C-C08E-2BEE-74B1D6106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D3774-9700-1D7B-452A-E9918D039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C1CF1-204D-A565-04D0-F3E704FB5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6DC43-DCA9-AACB-0A03-2A9295F8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F4BA7-770F-EEB6-CC41-B64DC8BA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27786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1733-3D43-EAC5-467B-0E21E5C9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BEC84-A89D-A3EE-F006-42AA9C1A4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38B55-2D10-09A8-2DAD-2A4F5FD7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A1F6C-1E8D-4B63-94FA-67F2DC22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12E2-A1AD-93FB-7C18-8C0ACB795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5350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DE8E2-F8CA-CABA-6D65-BD35DFA20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ACE52-2E16-1874-B001-8EDF4C547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428D0-0B74-7662-1681-72D267B51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D6CA7-FCD2-7902-98FD-FF4F1BB4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ED472-BD44-AC0E-1AE1-1A1B5D96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4384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04C08-39B8-B675-EE1C-16CACEA0A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59304-5BBB-A53D-7A06-12E18B5E4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EF607-100E-472E-C37D-0B8FBA748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24E5BD-5C38-8F47-BA5A-584DE2BB030B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9DB92-EB5B-0980-B31E-7535CF471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3AD54-BA03-183E-4A5C-18B8FBC67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E4260-C97B-D244-B57F-53E163C22341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38658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0979-B6A2-A9AE-CD6A-A8511361C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3030794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How the Web Works</a:t>
            </a:r>
            <a:br>
              <a:rPr lang="en-US" dirty="0"/>
            </a:br>
            <a:br>
              <a:rPr lang="en-US" dirty="0"/>
            </a:br>
            <a:endParaRPr lang="en-NP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6FF6A-A1AA-B20F-F1D0-5D77E363AF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Key Concepts Behind Web Applications</a:t>
            </a:r>
            <a:br>
              <a:rPr lang="en-US" dirty="0"/>
            </a:b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101048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11E6-9327-45F0-90C2-1881E14CB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6DFBF-C7AC-1AA7-C031-890D6D9E6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web was originally created to link scientific documents.</a:t>
            </a:r>
          </a:p>
          <a:p>
            <a:r>
              <a:rPr lang="en-US" dirty="0"/>
              <a:t>Hyperlinks allowed fast navigation between documents.</a:t>
            </a:r>
          </a:p>
          <a:p>
            <a:r>
              <a:rPr lang="en-US" dirty="0"/>
              <a:t>Modern web apps offer interactivity, video, games, etc.</a:t>
            </a:r>
          </a:p>
          <a:p>
            <a:r>
              <a:rPr lang="en-US" dirty="0"/>
              <a:t>Core underlying technologies largely unchanged.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35426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AF5E-2D62-D8D2-AC66-E0E653EA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Model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6FE53-A16A-CB39-1106-794AB7CB3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is based on </a:t>
            </a:r>
            <a:r>
              <a:rPr lang="en-US" b="1" dirty="0"/>
              <a:t>Client-Server</a:t>
            </a:r>
            <a:r>
              <a:rPr lang="en-US" dirty="0"/>
              <a:t> architecture.</a:t>
            </a:r>
          </a:p>
          <a:p>
            <a:r>
              <a:rPr lang="en-US" b="1" dirty="0"/>
              <a:t>Client</a:t>
            </a:r>
            <a:r>
              <a:rPr lang="en-US" dirty="0"/>
              <a:t>: sends requests (browsers, apps, devices).</a:t>
            </a:r>
          </a:p>
          <a:p>
            <a:r>
              <a:rPr lang="en-US" b="1" dirty="0"/>
              <a:t>Server</a:t>
            </a:r>
            <a:r>
              <a:rPr lang="en-US" dirty="0"/>
              <a:t>: processes requests, sends responses.</a:t>
            </a:r>
          </a:p>
          <a:p>
            <a:r>
              <a:rPr lang="en-US" dirty="0"/>
              <a:t>Servers may consist of many machines (e.g., Amazon).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83057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3301-8713-1511-3FE9-39E996B9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HTTP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AD59-B5DF-2475-D09C-203C70B03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Stands for </a:t>
            </a:r>
            <a:r>
              <a:rPr lang="en-US" b="1" dirty="0" err="1"/>
              <a:t>HyperText</a:t>
            </a:r>
            <a:r>
              <a:rPr lang="en-US" b="1" dirty="0"/>
              <a:t> Transfer Protocol</a:t>
            </a:r>
            <a:r>
              <a:rPr lang="en-US" dirty="0"/>
              <a:t>.</a:t>
            </a:r>
          </a:p>
          <a:p>
            <a:r>
              <a:rPr lang="en-US" dirty="0"/>
              <a:t>Used for communication between client and server.</a:t>
            </a:r>
          </a:p>
          <a:p>
            <a:r>
              <a:rPr lang="en-US" dirty="0"/>
              <a:t>HTTP is </a:t>
            </a:r>
            <a:r>
              <a:rPr lang="en-US" b="1" dirty="0"/>
              <a:t>stateless</a:t>
            </a:r>
            <a:r>
              <a:rPr lang="en-US" dirty="0"/>
              <a:t> – each request is independent.</a:t>
            </a:r>
          </a:p>
          <a:p>
            <a:r>
              <a:rPr lang="en-US" dirty="0"/>
              <a:t>Common ports:</a:t>
            </a:r>
          </a:p>
          <a:p>
            <a:r>
              <a:rPr lang="en-US" dirty="0"/>
              <a:t>HTTP: 80</a:t>
            </a:r>
          </a:p>
          <a:p>
            <a:r>
              <a:rPr lang="en-US" dirty="0"/>
              <a:t>HTTPS (secure): 443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349753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656B-7B06-8056-C5D3-20E440E71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URLs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5F01B-56B1-1350-6A69-434095365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URL: web address used to access resources.</a:t>
            </a:r>
          </a:p>
          <a:p>
            <a:r>
              <a:rPr lang="en-US" dirty="0"/>
              <a:t>Original URL example: http://</a:t>
            </a:r>
            <a:r>
              <a:rPr lang="en-US" dirty="0" err="1"/>
              <a:t>example.com</a:t>
            </a:r>
            <a:r>
              <a:rPr lang="en-US" dirty="0"/>
              <a:t>/</a:t>
            </a:r>
            <a:r>
              <a:rPr lang="en-US" dirty="0" err="1"/>
              <a:t>report.html</a:t>
            </a:r>
            <a:r>
              <a:rPr lang="en-US" dirty="0"/>
              <a:t>.</a:t>
            </a:r>
          </a:p>
          <a:p>
            <a:r>
              <a:rPr lang="en-US" dirty="0"/>
              <a:t>Modern URLs don’t necessarily point to files.</a:t>
            </a:r>
          </a:p>
          <a:p>
            <a:r>
              <a:rPr lang="en-US" dirty="0"/>
              <a:t>Can represent endpoints handled by the server.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55921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8513-28A8-457B-6C2A-7AB0B613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Methods (Verbs)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C35C4-9B7E-4406-F42A-C5C139CD4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methods:</a:t>
            </a:r>
          </a:p>
          <a:p>
            <a:pPr lvl="1"/>
            <a:r>
              <a:rPr lang="en-US" b="1" dirty="0"/>
              <a:t>GET</a:t>
            </a:r>
            <a:r>
              <a:rPr lang="en-US" dirty="0"/>
              <a:t>: retrieve data.</a:t>
            </a:r>
          </a:p>
          <a:p>
            <a:pPr lvl="1"/>
            <a:r>
              <a:rPr lang="en-US" b="1" dirty="0"/>
              <a:t>POST</a:t>
            </a:r>
            <a:r>
              <a:rPr lang="en-US" dirty="0"/>
              <a:t>: send data to server.</a:t>
            </a:r>
          </a:p>
          <a:p>
            <a:r>
              <a:rPr lang="en-US" dirty="0"/>
              <a:t>Others: PUT, DELETE, PATCH, etc.</a:t>
            </a:r>
          </a:p>
          <a:p>
            <a:r>
              <a:rPr lang="en-US" dirty="0"/>
              <a:t>GET can include data in query parameters (?key=value).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64074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6509-CA8A-FD40-F97B-BC4C5B3F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HTTP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FD37A-62C8-0189-FD2A-206737CDE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Server replies with data + status code.</a:t>
            </a:r>
          </a:p>
          <a:p>
            <a:r>
              <a:rPr lang="en-US" dirty="0"/>
              <a:t>Common status codes:</a:t>
            </a:r>
          </a:p>
          <a:p>
            <a:r>
              <a:rPr lang="en-US" dirty="0"/>
              <a:t>200 OK</a:t>
            </a:r>
          </a:p>
          <a:p>
            <a:r>
              <a:rPr lang="en-US" dirty="0"/>
              <a:t>404 Not Found</a:t>
            </a:r>
          </a:p>
          <a:p>
            <a:r>
              <a:rPr lang="en-US" dirty="0"/>
              <a:t>Status code groups:</a:t>
            </a:r>
          </a:p>
          <a:p>
            <a:r>
              <a:rPr lang="en-US" dirty="0"/>
              <a:t>1xx: Informational</a:t>
            </a:r>
          </a:p>
          <a:p>
            <a:r>
              <a:rPr lang="en-US" dirty="0"/>
              <a:t>2xx: Success</a:t>
            </a:r>
          </a:p>
          <a:p>
            <a:r>
              <a:rPr lang="en-US" dirty="0"/>
              <a:t>3xx: Redirect</a:t>
            </a:r>
          </a:p>
          <a:p>
            <a:r>
              <a:rPr lang="en-US" dirty="0"/>
              <a:t>4xx: Client errors</a:t>
            </a:r>
          </a:p>
          <a:p>
            <a:r>
              <a:rPr lang="en-US" dirty="0"/>
              <a:t>5xx: Server errors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904206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026C-AC24-1A2D-FD84-4263A8E5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APIs and HTTP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9EFBB-62C2-9FFB-358C-10086B5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 can be used to interact with APIs.</a:t>
            </a:r>
          </a:p>
          <a:p>
            <a:r>
              <a:rPr lang="en-US" dirty="0"/>
              <a:t>APIs expose endpoints for retrieving data.</a:t>
            </a:r>
          </a:p>
          <a:p>
            <a:r>
              <a:rPr lang="en-US" dirty="0"/>
              <a:t>Data exchange typically in </a:t>
            </a:r>
            <a:r>
              <a:rPr lang="en-US" b="1" dirty="0"/>
              <a:t>JSON</a:t>
            </a:r>
            <a:r>
              <a:rPr lang="en-US" dirty="0"/>
              <a:t> format.</a:t>
            </a:r>
          </a:p>
          <a:p>
            <a:r>
              <a:rPr lang="en-US" dirty="0"/>
              <a:t>Examples: weather API, transport API, currency API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062827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B763-7F07-8287-F4EF-ACD4F113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Working with APIs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7F8ED-8826-D7F5-4F65-65975C057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Postman</a:t>
            </a:r>
            <a:r>
              <a:rPr lang="en-US" dirty="0"/>
              <a:t>: GUI for making API requests.</a:t>
            </a:r>
          </a:p>
          <a:p>
            <a:r>
              <a:rPr lang="en-US" b="1" dirty="0"/>
              <a:t>curl</a:t>
            </a:r>
            <a:r>
              <a:rPr lang="en-US" dirty="0"/>
              <a:t>: command-line tool for sending HTTP requests.</a:t>
            </a:r>
          </a:p>
          <a:p>
            <a:r>
              <a:rPr lang="en-US" b="1" dirty="0" err="1"/>
              <a:t>wget</a:t>
            </a:r>
            <a:r>
              <a:rPr lang="en-US" dirty="0"/>
              <a:t>: download content via HTTP.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36958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2348-9428-7A2A-4D8A-F6FD20F58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Clients (User Agents)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4DFD7-1AED-2440-F63B-0C3ECEF87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Browser is the most common client.</a:t>
            </a:r>
          </a:p>
          <a:p>
            <a:r>
              <a:rPr lang="en-US" dirty="0"/>
              <a:t>Others: mobile apps, desktop apps, IoT devices.</a:t>
            </a:r>
          </a:p>
          <a:p>
            <a:r>
              <a:rPr lang="en-US" dirty="0"/>
              <a:t>User-Agent header identifies client type (e.g., Chrome on Windows).</a:t>
            </a:r>
          </a:p>
          <a:p>
            <a:r>
              <a:rPr lang="en-US" dirty="0"/>
              <a:t>Rise of mobile usage: design must support portrait mode.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626128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6153-BA2A-A187-C018-FFCCBBAB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70394-88EE-577D-EA92-8A08940D6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server = software that handles HTTP requests.</a:t>
            </a:r>
          </a:p>
          <a:p>
            <a:r>
              <a:rPr lang="en-US" dirty="0"/>
              <a:t>Popular servers:</a:t>
            </a:r>
          </a:p>
          <a:p>
            <a:pPr lvl="1"/>
            <a:r>
              <a:rPr lang="en-US" b="1" dirty="0"/>
              <a:t>Apache</a:t>
            </a:r>
            <a:endParaRPr lang="en-US" dirty="0"/>
          </a:p>
          <a:p>
            <a:pPr lvl="1"/>
            <a:r>
              <a:rPr lang="en-US" b="1" dirty="0"/>
              <a:t>Nginx</a:t>
            </a:r>
            <a:endParaRPr lang="en-US" dirty="0"/>
          </a:p>
          <a:p>
            <a:r>
              <a:rPr lang="en-US" dirty="0"/>
              <a:t>Most run on Linux/Unix systems.</a:t>
            </a:r>
          </a:p>
          <a:p>
            <a:r>
              <a:rPr lang="en-US" dirty="0"/>
              <a:t>Python has a built-in server for testing:</a:t>
            </a:r>
            <a:br>
              <a:rPr lang="en-US" dirty="0"/>
            </a:br>
            <a:r>
              <a:rPr lang="en-US" dirty="0"/>
              <a:t>python -m </a:t>
            </a:r>
            <a:r>
              <a:rPr lang="en-US" dirty="0" err="1"/>
              <a:t>http.server</a:t>
            </a:r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987926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B71F3-55AD-105D-4C66-8296EF58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Data-Driven Websites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0B507-6012-AD98-815F-4808A2FD0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apps often rely on databases.</a:t>
            </a:r>
          </a:p>
          <a:p>
            <a:r>
              <a:rPr lang="en-US" dirty="0"/>
              <a:t>Relational DBs: MySQL, MariaDB, PostgreSQL.</a:t>
            </a:r>
          </a:p>
          <a:p>
            <a:r>
              <a:rPr lang="en-US" dirty="0"/>
              <a:t>Not all data fits into tables → NoSQL solutions.</a:t>
            </a:r>
          </a:p>
          <a:p>
            <a:r>
              <a:rPr lang="en-US" dirty="0"/>
              <a:t>Use cases: Google Maps, real-time data storage.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154576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863A-DA5C-5632-4967-F060383F9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9C628-CFA1-DAB7-D7FA-9E60BD126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tech stack = group of technologies working together.</a:t>
            </a:r>
          </a:p>
          <a:p>
            <a:r>
              <a:rPr lang="en-US" dirty="0"/>
              <a:t>Examples:</a:t>
            </a:r>
          </a:p>
          <a:p>
            <a:r>
              <a:rPr lang="en-US" b="1" dirty="0"/>
              <a:t>LAMP</a:t>
            </a:r>
            <a:r>
              <a:rPr lang="en-US" dirty="0"/>
              <a:t>: Linux, Apache, MySQL, PHP/Python</a:t>
            </a:r>
          </a:p>
          <a:p>
            <a:r>
              <a:rPr lang="en-US" b="1" dirty="0"/>
              <a:t>MEAN</a:t>
            </a:r>
            <a:r>
              <a:rPr lang="en-US" dirty="0"/>
              <a:t>: MongoDB, </a:t>
            </a:r>
            <a:r>
              <a:rPr lang="en-US" dirty="0" err="1"/>
              <a:t>Express.js</a:t>
            </a:r>
            <a:r>
              <a:rPr lang="en-US" dirty="0"/>
              <a:t>, </a:t>
            </a:r>
            <a:r>
              <a:rPr lang="en-US" dirty="0" err="1"/>
              <a:t>Angular.js</a:t>
            </a:r>
            <a:r>
              <a:rPr lang="en-US" dirty="0"/>
              <a:t>, Node.js</a:t>
            </a:r>
          </a:p>
          <a:p>
            <a:r>
              <a:rPr lang="en-US" dirty="0"/>
              <a:t>Tools:</a:t>
            </a:r>
          </a:p>
          <a:p>
            <a:pPr lvl="1"/>
            <a:r>
              <a:rPr lang="en-US" dirty="0"/>
              <a:t>XAMPP (Apache, MariaDB, PHP)</a:t>
            </a:r>
          </a:p>
          <a:p>
            <a:pPr lvl="1"/>
            <a:r>
              <a:rPr lang="en-US" dirty="0" err="1"/>
              <a:t>Laragon</a:t>
            </a:r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78818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CF6E-96FF-22A2-C008-7022FE04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24011-B269-4B72-F43D-8542662C9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 protocol of the web, </a:t>
            </a:r>
            <a:r>
              <a:rPr lang="en-US" b="1" dirty="0"/>
              <a:t>stateless</a:t>
            </a:r>
            <a:r>
              <a:rPr lang="en-US" dirty="0"/>
              <a:t>.</a:t>
            </a:r>
          </a:p>
          <a:p>
            <a:r>
              <a:rPr lang="en-US" dirty="0"/>
              <a:t>Requests: </a:t>
            </a:r>
            <a:r>
              <a:rPr lang="en-US" b="1" dirty="0"/>
              <a:t>GET</a:t>
            </a:r>
            <a:r>
              <a:rPr lang="en-US" dirty="0"/>
              <a:t>, </a:t>
            </a:r>
            <a:r>
              <a:rPr lang="en-US" b="1" dirty="0"/>
              <a:t>POST</a:t>
            </a:r>
            <a:r>
              <a:rPr lang="en-US" dirty="0"/>
              <a:t>, etc.</a:t>
            </a:r>
          </a:p>
          <a:p>
            <a:r>
              <a:rPr lang="en-US" dirty="0"/>
              <a:t>Responses include status code + data.</a:t>
            </a:r>
          </a:p>
          <a:p>
            <a:r>
              <a:rPr lang="en-US" dirty="0"/>
              <a:t>JSON is commonly used for data exchange.</a:t>
            </a:r>
          </a:p>
          <a:p>
            <a:r>
              <a:rPr lang="en-US" dirty="0"/>
              <a:t>Web apps often use APIs, databases, and tech stacks.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018444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537</Words>
  <Application>Microsoft Macintosh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    How the Web Works  </vt:lpstr>
      <vt:lpstr>Introduction</vt:lpstr>
      <vt:lpstr>Client-Server Model</vt:lpstr>
      <vt:lpstr>HTTP Basics</vt:lpstr>
      <vt:lpstr>URLs</vt:lpstr>
      <vt:lpstr>HTTP Methods (Verbs)</vt:lpstr>
      <vt:lpstr>HTTP Responses</vt:lpstr>
      <vt:lpstr>APIs and HTTP</vt:lpstr>
      <vt:lpstr>Tools for Working with APIs</vt:lpstr>
      <vt:lpstr>Clients (User Agents) </vt:lpstr>
      <vt:lpstr>Servers</vt:lpstr>
      <vt:lpstr>Data-Driven Websites</vt:lpstr>
      <vt:lpstr>Tech Stacks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Basnet</dc:creator>
  <cp:lastModifiedBy>Prashant Basnet</cp:lastModifiedBy>
  <cp:revision>1</cp:revision>
  <dcterms:created xsi:type="dcterms:W3CDTF">2025-11-02T10:24:46Z</dcterms:created>
  <dcterms:modified xsi:type="dcterms:W3CDTF">2025-11-02T13:17:41Z</dcterms:modified>
</cp:coreProperties>
</file>